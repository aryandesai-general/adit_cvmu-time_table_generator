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3BFB5-9FC6-4E07-A3DF-FB4261A09818}" v="764" dt="2026-10-05T19:14:54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6" y="163105"/>
            <a:ext cx="1514956" cy="877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659" y="163105"/>
            <a:ext cx="1273346" cy="8716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5960" y="292608"/>
            <a:ext cx="82296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1">
                <a:solidFill>
                  <a:srgbClr val="4338CA"/>
                </a:solidFill>
                <a:latin typeface="Aptos"/>
              </a:defRPr>
            </a:pPr>
            <a:r>
              <a:rPr sz="1600" dirty="0"/>
              <a:t>CHARUTAR VIDYAMANDAL UNIVERSITY (CVMU)</a:t>
            </a:r>
            <a:endParaRPr lang="en-US" sz="1600"/>
          </a:p>
        </p:txBody>
      </p:sp>
      <p:sp>
        <p:nvSpPr>
          <p:cNvPr id="6" name="TextBox 5"/>
          <p:cNvSpPr txBox="1"/>
          <p:nvPr/>
        </p:nvSpPr>
        <p:spPr>
          <a:xfrm>
            <a:off x="1959765" y="597606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  <a:latin typeface="Aptos"/>
              </a:defRPr>
            </a:pPr>
            <a:r>
              <a:rPr sz="1400" dirty="0"/>
              <a:t>A. D. PATEL INSTITUTE OF TECHNOLOGY (ADIT)</a:t>
            </a:r>
            <a:endParaRPr lang="en-US" sz="1400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14253F"/>
                </a:solidFill>
                <a:latin typeface="Aptos"/>
              </a:defRPr>
            </a:pPr>
            <a:r>
              <a:t>AI-DRIVEN ACADEMIC TIMETABLE</a:t>
            </a:r>
            <a:br/>
            <a:r>
              <a:t>GENERATOR &amp; SCHEDULE OPTIMIZER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154680"/>
            <a:ext cx="6446520" cy="13303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333756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338CA"/>
                </a:solidFill>
                <a:latin typeface="Aptos"/>
              </a:defRPr>
            </a:pPr>
            <a:r>
              <a:t>Artificial Intelligence (AI)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73075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COURSE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5887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202044503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609" y="4892040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 dirty="0"/>
              <a:t>Desai Aryan M.  •  12402080601009 </a:t>
            </a:r>
            <a:endParaRPr lang="en-US" sz="1200"/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 dirty="0"/>
              <a:t>Limbani Laksh R.  •  12402080601071 </a:t>
            </a:r>
            <a:endParaRPr lang="en-US" sz="1200"/>
          </a:p>
        </p:txBody>
      </p:sp>
      <p:sp>
        <p:nvSpPr>
          <p:cNvPr id="17" name="TextBox 16"/>
          <p:cNvSpPr txBox="1"/>
          <p:nvPr/>
        </p:nvSpPr>
        <p:spPr>
          <a:xfrm>
            <a:off x="1026780" y="5586983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 dirty="0"/>
              <a:t>Panchal Meet K.  •  12402080601080 </a:t>
            </a:r>
            <a:endParaRPr lang="en-US" sz="1200"/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0B326-BF6E-D35A-F106-047F142E9DC8}"/>
              </a:ext>
            </a:extLst>
          </p:cNvPr>
          <p:cNvSpPr txBox="1"/>
          <p:nvPr/>
        </p:nvSpPr>
        <p:spPr>
          <a:xfrm>
            <a:off x="3631227" y="4090108"/>
            <a:ext cx="1578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Department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DA472-ADDD-86C2-E94C-132DDC036329}"/>
              </a:ext>
            </a:extLst>
          </p:cNvPr>
          <p:cNvSpPr txBox="1"/>
          <p:nvPr/>
        </p:nvSpPr>
        <p:spPr>
          <a:xfrm>
            <a:off x="5674178" y="4088338"/>
            <a:ext cx="398689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2462E9"/>
                </a:solidFill>
                <a:ea typeface="Calibri"/>
                <a:cs typeface="Calibri"/>
              </a:rPr>
              <a:t>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Project Blueprint: The 6 Core System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From physical resources and student batching to AI scheduling and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148840"/>
            <a:ext cx="53035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Classroom &amp; Lab</a:t>
            </a:r>
            <a:br/>
            <a:r>
              <a:t>Infrastructure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907791"/>
            <a:ext cx="2880360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36 rooms </a:t>
            </a:r>
            <a:endParaRPr lang="en-US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 dynamic seating </a:t>
            </a:r>
            <a:endParaRPr lang="en-US" sz="1050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specialized equipment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436168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26279" y="2148840"/>
            <a:ext cx="530352" cy="438912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79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Student Entry &amp;</a:t>
            </a:r>
            <a:br/>
            <a:r>
              <a:t>Division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07791"/>
            <a:ext cx="288036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ceil(Intake/90) </a:t>
            </a:r>
            <a:endParaRPr lang="en-US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4 batches per division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06500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0" y="2148840"/>
            <a:ext cx="530352" cy="43891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Subject &amp;</a:t>
            </a:r>
            <a:br/>
            <a:r>
              <a:t>Curriculum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4584" y="2777693"/>
            <a:ext cx="288036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L-T-P-C </a:t>
            </a:r>
            <a:endParaRPr lang="en-US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PCC/PEC/OEC </a:t>
            </a:r>
            <a:endParaRPr lang="en-US" sz="1050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credit priority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5836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59" y="4114800"/>
            <a:ext cx="530352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Faculty Profiling &amp;</a:t>
            </a:r>
            <a:br/>
            <a:r>
              <a:t>Priority Allotment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743654"/>
            <a:ext cx="288036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55 faculty </a:t>
            </a:r>
            <a:endParaRPr lang="en-US" sz="120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skills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top-3 choices </a:t>
            </a:r>
            <a:endParaRPr lang="en-US" sz="120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pooling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26279" y="4114800"/>
            <a:ext cx="53035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79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Workload Balancing</a:t>
            </a:r>
            <a:br/>
            <a:r>
              <a:t>&amp; HoD Quotas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873752"/>
            <a:ext cx="288036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12–16h target </a:t>
            </a:r>
            <a:endParaRPr lang="en-US" sz="120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3–6h </a:t>
            </a:r>
            <a:r>
              <a:rPr sz="1200" dirty="0" err="1"/>
              <a:t>HoD</a:t>
            </a:r>
            <a:r>
              <a:rPr sz="1200" dirty="0"/>
              <a:t> protected 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0" y="4114800"/>
            <a:ext cx="530352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625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AI Timetable Engine</a:t>
            </a:r>
            <a:br/>
            <a:r>
              <a:t>&amp; Export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4584" y="4743654"/>
            <a:ext cx="288036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collision-free generation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A4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PNG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lang="en-US" sz="1200" dirty="0"/>
              <a:t> </a:t>
            </a:r>
            <a:r>
              <a:rPr sz="1200" dirty="0"/>
              <a:t>CSV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35318" cy="763982"/>
          </a:xfrm>
          <a:prstGeom prst="rect">
            <a:avLst/>
          </a:prstGeom>
        </p:spPr>
      </p:pic>
      <p:pic>
        <p:nvPicPr>
          <p:cNvPr id="44" name="Picture 4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583" y="73152"/>
            <a:ext cx="1172489" cy="757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1 &amp; Section 2: Infrastructure + Student Divisions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Building the physical and student-organization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539496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73152" cy="3794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</a:defRPr>
            </a:pPr>
            <a:r>
              <a:t>SECTION 1 • CLASSROOM &amp; LAB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4937760" cy="14875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Catalogs 36 facilities: common classrooms (capacity 80–90) and specialized labs (capacity 40).</a:t>
            </a:r>
            <a:endParaRPr lang="en-US" sz="1400" dirty="0"/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Classrooms such as 213, 214, 209 and others are common shared resources across branches.</a:t>
            </a:r>
            <a:endParaRPr sz="1200" dirty="0"/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Tracks high-lumen projectors, smart boards, audio setups and dedicated CAD/computer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539496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965960"/>
            <a:ext cx="73152" cy="3794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338CA"/>
                </a:solidFill>
                <a:latin typeface="Aptos"/>
              </a:defRPr>
            </a:pPr>
            <a:r>
              <a:t>SECTION 2 • STUDENT ENTRY &amp; DIVISIONS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4937760" cy="14875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Division formula: Divisions = ceil(Intake / 90). Example: CE → 3 divisions; IT → 2 divisions.</a:t>
            </a:r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Each division is automatically split into 4 batches: A, B, C and D, typically 20–22 students.</a:t>
            </a:r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Lab pairing: Batches A+B in Lab 1 and C+D in Lab 2 for an efficient student–teacher ratio.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870448"/>
            <a:ext cx="5257800" cy="438912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5916168"/>
            <a:ext cx="5074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DIVISIONS = ⌈ INTAKE / 90 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71611" cy="745396"/>
          </a:xfrm>
          <a:prstGeom prst="rect">
            <a:avLst/>
          </a:prstGeom>
        </p:spPr>
      </p:pic>
      <p:pic>
        <p:nvPicPr>
          <p:cNvPr id="24" name="Picture 2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63" y="73152"/>
            <a:ext cx="1147709" cy="733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3 &amp; Section 4: Curriculum + Faculty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Mapping academic requirements to verified faculty expertise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73152" cy="388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Aptos"/>
              </a:defRPr>
            </a:pPr>
            <a:r>
              <a:t>SECTION 3 • SUBJECT &amp; CURRICULUM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00" y="2651760"/>
            <a:ext cx="4962540" cy="12721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Full GTU / AICTE L-T-P-C scheme: Lectures, Tutorials, Practicals and Credits.</a:t>
            </a:r>
            <a:endParaRPr lang="en-US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Categories include PCC, PEC, OEC and BSC subjects.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4- and 5-credit subjects receive automatic priority for morning slots (9:05–11:45 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965960"/>
            <a:ext cx="73152" cy="388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Aptos"/>
              </a:defRPr>
            </a:pPr>
            <a:r>
              <a:t>SECTION 4 • FACULTY PROFILING &amp; ALLOTMENT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4937760" cy="19697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55 authentic faculty profiles across CE, IT, CSD, AIDS, ME, CL, EE, CH and ASH.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Verified skill keywords and top-3 subject priority preferences are stored for each professor.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Inter-departmental pooling: IT ↔ AIDS, CE ↔ CSD, plus ASH for Open Electives.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AI priority scoring gives a +200 bonus for subject matches to verified specialization.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098147" cy="751591"/>
          </a:xfrm>
          <a:prstGeom prst="rect">
            <a:avLst/>
          </a:prstGeom>
        </p:spPr>
      </p:pic>
      <p:pic>
        <p:nvPicPr>
          <p:cNvPr id="22" name="Picture 21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339" y="73152"/>
            <a:ext cx="1116733" cy="726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5: Workload Balancing &amp; HoD Quotas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Fair allocation with protected administrative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59669"/>
                </a:solidFill>
                <a:latin typeface="Aptos"/>
              </a:defRPr>
            </a:pPr>
            <a:r>
              <a:t>55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Allotted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563E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with 0 Subjects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338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with 0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3999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D97706"/>
                </a:solidFill>
                <a:latin typeface="Aptos"/>
              </a:defRPr>
            </a:pPr>
            <a:r>
              <a:t>14h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Balanced Target / 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56432"/>
            <a:ext cx="53949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456432"/>
            <a:ext cx="73152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63931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Aptos"/>
              </a:defRPr>
            </a:pPr>
            <a:r>
              <a:t>HoD ADMIN QUOTA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142231"/>
            <a:ext cx="4937760" cy="10054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Protected time supports departmental governance, NBA/NAAC accreditation and academic meetings.</a:t>
            </a:r>
            <a:endParaRPr lang="en-US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Teaching workload is strictly 3–6 hours/week; typically one core theory subject without heavy lab overload.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456432"/>
            <a:ext cx="53949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456432"/>
            <a:ext cx="7315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63931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Aptos"/>
              </a:defRPr>
            </a:pPr>
            <a:r>
              <a:t>REGULAR FACULTY EQUALIZATION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42231"/>
            <a:ext cx="4937760" cy="12721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Target workload: 12–16 hours/week, with a balanced target of 14h/week.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Typical mix: 6–8h theory + 6–8h practical mentoring.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Round-robin lab assignment dynamically distributes practical batches.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77806" cy="763982"/>
          </a:xfrm>
          <a:prstGeom prst="rect">
            <a:avLst/>
          </a:prstGeom>
        </p:spPr>
      </p:pic>
      <p:pic>
        <p:nvPicPr>
          <p:cNvPr id="34" name="Picture 3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559" y="73152"/>
            <a:ext cx="1141513" cy="757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6: AI Timetable Engine &amp; Academic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Constraint Satisfaction Problem (CSP) engine + official timetable rendering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4800600" cy="393192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891B2"/>
                </a:solidFill>
                <a:latin typeface="Aptos"/>
              </a:defRPr>
            </a:pPr>
            <a:r>
              <a:t>AUTOMATED CSP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51760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Zero Double-Booking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624328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Set-based faculty collision checking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18688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9125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Saturday Holiday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319125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Monday–Friday schedule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85615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85615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58183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Lunch Invariant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758183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12:40 PM – 1:25 PM preserved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52544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352544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25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Parallel Electives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432511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Same time, separate classrooms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19472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9204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Practical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489204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Contiguous 2-hour lab blocks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1874519"/>
            <a:ext cx="5806440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212140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338CA"/>
                </a:solidFill>
                <a:latin typeface="Aptos"/>
              </a:defRPr>
            </a:pPr>
            <a:r>
              <a:t>DETAILED TIMETABLE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670048"/>
            <a:ext cx="507492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Academic metadata strip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Clean text-based timetable cells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Full Course Legend with L-T-P-C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Faculty workload cards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Interactive period editing with live clash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5074920"/>
            <a:ext cx="1371600" cy="347472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507492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CSP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9792" y="5074920"/>
            <a:ext cx="164592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9792" y="5074920"/>
            <a:ext cx="1645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COLLISION-FREE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3728" y="5074920"/>
            <a:ext cx="15087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53728" y="5074920"/>
            <a:ext cx="1508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EXPORTABLE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91074" cy="763982"/>
          </a:xfrm>
          <a:prstGeom prst="rect">
            <a:avLst/>
          </a:prstGeom>
        </p:spPr>
      </p:pic>
      <p:pic>
        <p:nvPicPr>
          <p:cNvPr id="45" name="Picture 44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7827" y="73152"/>
            <a:ext cx="1228245" cy="726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System Verification &amp; Export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Six automated invariants verify the generated institute-wide schedule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8 Engineering 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Div 1 &amp; Div 2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3712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Zero Faculty Collisions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No double-booking across institute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84463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3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Faculty Pooling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IT ⇄ AIDS • CE ⇄ CSD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59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Saturday Invariant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749039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0 Saturday slots booked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53712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Parallel Electives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3749039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Separate rooms, same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84463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4463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Lab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3749039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Non-overlapping practical timing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892040"/>
            <a:ext cx="10927080" cy="100584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1023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Aptos"/>
              </a:defRPr>
            </a:pPr>
            <a:r>
              <a:t>EXPORT SUITE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51760" y="5029200"/>
            <a:ext cx="1874519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517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A4 Landscape Print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5029200"/>
            <a:ext cx="1874519" cy="34747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091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High-Resolution PNG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5029200"/>
            <a:ext cx="1874519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Excel / CSV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60" y="5029200"/>
            <a:ext cx="1874519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239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Interactive Period Editor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65415" cy="751592"/>
          </a:xfrm>
          <a:prstGeom prst="rect">
            <a:avLst/>
          </a:prstGeom>
        </p:spPr>
      </p:pic>
      <p:pic>
        <p:nvPicPr>
          <p:cNvPr id="54" name="Picture 5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754" y="73152"/>
            <a:ext cx="1135318" cy="745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Conclusion, Future Scope &amp;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AI-driven scheduling designed for faster, fairer and more reliable academic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Aptos"/>
              </a:defRPr>
            </a:pPr>
            <a:r>
              <a:t>KEY 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4434840" cy="20851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Manual 2-week drafting process → instantaneous </a:t>
            </a:r>
            <a:r>
              <a:rPr lang="en-US" sz="1400" dirty="0"/>
              <a:t>150ms</a:t>
            </a:r>
            <a:r>
              <a:rPr sz="1400" dirty="0"/>
              <a:t> automated execution.</a:t>
            </a:r>
            <a:endParaRPr lang="en-US" dirty="0"/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100% collision-free schedules with mathematically checked constraints.</a:t>
            </a:r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Balanced workloads across all 55 professors with zero unassigned faculty.</a:t>
            </a:r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Standalone architecture using standard Python 3 and native browser JavaScript.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83080"/>
            <a:ext cx="5532120" cy="342900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891B2"/>
                </a:solidFill>
                <a:latin typeface="Aptos"/>
              </a:defRPr>
            </a:pPr>
            <a:r>
              <a:t>FUTURE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78608"/>
            <a:ext cx="4754880" cy="13747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Student Elective Polling — preferences + automated division sizing</a:t>
            </a:r>
            <a:endParaRPr lang="en-US"/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 Calendar Sync — Google Calendar + Apple iCal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 IoT Smart Classrooms — real-time room re-allocation from attendance sensors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7772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550408"/>
            <a:ext cx="10424160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🎉 THANK YOU!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E0E7FF"/>
                </a:solidFill>
                <a:latin typeface="Aptos"/>
              </a:defRPr>
            </a:pPr>
            <a:r>
              <a:t>Desai Aryan M. (12402080601009) • Limbani Laksh R. (12402080601071) • Panchal Meet K. (12402080601080)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-12390" y="-2478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84879" cy="751591"/>
          </a:xfrm>
          <a:prstGeom prst="rect">
            <a:avLst/>
          </a:prstGeom>
        </p:spPr>
      </p:pic>
      <p:pic>
        <p:nvPicPr>
          <p:cNvPr id="23" name="Picture 22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803" y="73152"/>
            <a:ext cx="1197269" cy="733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157</cp:revision>
  <dcterms:created xsi:type="dcterms:W3CDTF">2013-01-27T09:14:16Z</dcterms:created>
  <dcterms:modified xsi:type="dcterms:W3CDTF">2026-10-05T19:16:15Z</dcterms:modified>
  <cp:category/>
</cp:coreProperties>
</file>